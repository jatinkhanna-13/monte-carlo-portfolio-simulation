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909D"/>
    <a:srgbClr val="FFC1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27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y Movie 3">
            <a:hlinkClick r:id="" action="ppaction://media"/>
            <a:extLst>
              <a:ext uri="{FF2B5EF4-FFF2-40B4-BE49-F238E27FC236}">
                <a16:creationId xmlns:a16="http://schemas.microsoft.com/office/drawing/2014/main" id="{FA329A98-B471-7DB3-0159-6D319E87AB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691" y="60013"/>
            <a:ext cx="8930618" cy="50234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98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83280" y="1005840"/>
            <a:ext cx="73152" cy="29260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66160" y="10058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1737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SIMULATION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56616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Analysis of US Equity Portfolio Risk &amp; Return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0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3218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34930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983480" y="3200400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3218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34930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0" y="3200400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4930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818120" y="3200400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120" y="3218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34930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566160" y="4023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  ·  GOOGL  ·  MSFT  ·  NVDA  ·  META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462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 · Academic Use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73152" cy="8686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plausible portfolio outcomes, estimate probability of gain or loss relative to the initial investment, and visualise uncertainty through distributional and path-based analytics.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2037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 USD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393192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2551176"/>
            <a:ext cx="448056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Horizon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606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Trading Days (≈ 1 Year)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5351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2953512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008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30083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Monte Carlo Paths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55848"/>
            <a:ext cx="393192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355848"/>
            <a:ext cx="448056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Window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4107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Daily Closing Prices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5818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758184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813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38130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 · GOOGL · MSFT · NVDA · META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393192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97680" y="4160520"/>
            <a:ext cx="448056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215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34840" y="42153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Portfolio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544568"/>
            <a:ext cx="8412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5445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r>
              <a:rPr lang="en-US" sz="1200" dirty="0"/>
              <a:t>~</a:t>
            </a:r>
            <a:r>
              <a:rPr lang="en-US" sz="1200" dirty="0">
                <a:solidFill>
                  <a:srgbClr val="FFC108"/>
                </a:solidFill>
              </a:rPr>
              <a:t>88% probability of positive return after 252 trading days</a:t>
            </a:r>
            <a:br>
              <a:rPr lang="en-US" sz="1200" dirty="0">
                <a:solidFill>
                  <a:srgbClr val="FFC108"/>
                </a:solidFill>
              </a:rPr>
            </a:br>
            <a:r>
              <a:rPr lang="en-US" sz="1200" dirty="0">
                <a:solidFill>
                  <a:srgbClr val="FFC108"/>
                </a:solidFill>
              </a:rPr>
              <a:t>Mean terminal value ≈ $152,000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94360" cy="1691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adjusted closing prices for 5 US tech equities from Yahoo Finance via yfinance Python library — 5 years of trading sessions, adjusted for splits and dividends.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971800"/>
            <a:ext cx="4023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94360" cy="1691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747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returns computed per asset. Mean return vector (μ), standard deviation (σ), and covariance matrix (Σ) estimated for multivariate simulation.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594360" cy="1691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Decomposition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600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Σ decomposed via Cholesky factorisation (Σ = L·Lᵀ). Correlated innovations generated by multiplying standard normal shocks by 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023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594360" cy="1691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4747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Brownian Motion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4747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 evolved using GBM: S(t+1) = S(t) · exp( (μ − σ²/2)·Δt + σ·√Δt·ε ) where Δt = 1/252 and ε ~ N(0,1).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78909D"/>
                </a:solidFill>
              </a:rPr>
              <a:t>Portfolio value calculated as weighted sum of simulated asset returns, normalized to $100,000 initial capital.</a:t>
            </a:r>
            <a:endParaRPr lang="en-US" sz="950" dirty="0">
              <a:solidFill>
                <a:srgbClr val="78909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PORTFOLIO PATHS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Screenshot_2026-03-08_at_12_58_43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76072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143000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309360" y="1143000"/>
            <a:ext cx="54864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46520" y="1188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Value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6520" y="1417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167335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309360" y="2029968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2029968"/>
            <a:ext cx="54864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46520" y="2304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$420,000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46520" y="256032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path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09360" y="2916936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433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09360" y="2916936"/>
            <a:ext cx="54864" cy="7498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46520" y="29626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46520" y="31912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$50,000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344728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path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309360" y="3803904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09360" y="3803904"/>
            <a:ext cx="54864" cy="7498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46520" y="38496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Trend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46520" y="40782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Drift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46520" y="433425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μ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characteristic fan shape — narrow at inception, widening over time — reflects compounding of daily uncertainty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DISTRIBUTION</a:t>
            </a:r>
            <a:endParaRPr lang="en-US" sz="2400" dirty="0"/>
          </a:p>
        </p:txBody>
      </p:sp>
      <p:pic>
        <p:nvPicPr>
          <p:cNvPr id="4" name="Image 0" descr="/mnt/user-data/uploads/Screenshot_2026-03-08_at_12_57_59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097280"/>
            <a:ext cx="292608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13385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Range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80760" y="1353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– $140k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80760" y="16002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frequency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0" y="1938528"/>
            <a:ext cx="292608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19751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80760" y="24414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 shape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43600" y="2779776"/>
            <a:ext cx="292608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80760" y="28163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Tail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3035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$60,000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80760" y="3282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extreme losses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43600" y="3621024"/>
            <a:ext cx="292608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80760" y="3657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80760" y="38770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$300,000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80760" y="412394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extreme gains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paths cluster near $120k–$160k with a long right tail from compounded geometric returns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NORMAL DISTRIBUTION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Screenshot_2026-03-08_at_12_58_21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66928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645920"/>
            <a:ext cx="2834640" cy="822960"/>
          </a:xfrm>
          <a:prstGeom prst="rect">
            <a:avLst/>
          </a:prstGeom>
          <a:solidFill>
            <a:srgbClr val="4CAF50">
              <a:alpha val="18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16642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REGION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80760" y="1874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080760" y="2560320"/>
            <a:ext cx="2834640" cy="822960"/>
          </a:xfrm>
          <a:prstGeom prst="rect">
            <a:avLst/>
          </a:prstGeom>
          <a:solidFill>
            <a:srgbClr val="F44336">
              <a:alpha val="18000"/>
            </a:srgbClr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25786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REGION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8076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74320" y="41605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4178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5760" y="4407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450592" y="41605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42032" y="4178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Portfolio Value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542032" y="4407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$152,000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26864" y="41605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18304" y="4178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4407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+52%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03136" y="41605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94576" y="4178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at $100k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894576" y="4407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F44336">
              <a:alpha val="20000"/>
            </a:srgbClr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 5%)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loses more than ~$25,000 in 5% of scenarios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0332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~$25,000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7432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4320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121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Loss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2880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&lt; $100,000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2011680"/>
            <a:ext cx="27432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82112" y="2011680"/>
            <a:ext cx="274320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2121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88%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880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&gt; $100,000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9904" y="2011680"/>
            <a:ext cx="27432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2011680"/>
            <a:ext cx="2743200" cy="54864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2121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Terminal Value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9632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$152,000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9632" y="2880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portfolio value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27432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447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Terminal Value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$138k–$145k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" y="42062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50th percentile outcome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82112" y="3337560"/>
            <a:ext cx="27432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82112" y="3337560"/>
            <a:ext cx="27432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3447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42062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3337560"/>
            <a:ext cx="27432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9904" y="3337560"/>
            <a:ext cx="2743200" cy="5486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99632" y="3447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9632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99632" y="42062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tech-sector volatility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 risk-return profile for an equal-weighted US tech portfolio over a one-year horizon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54864" cy="62179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9385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probability of positive return with mean expected gain of ~$52,000 on $100,000 investment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54864" cy="62179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6883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probability of loss and wide spread underscore concentration risk in single-sector tech portfolio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8412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54864" cy="6217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43814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right tail (outcomes &gt;$400k) arises from asymmetric nature of compounded returns under GBM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841248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should consider position sizing and rebalancing strategies to manage downside exposure.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For academic and educational purposes only. Past performance does not guarantee future results. Not financial advice.</a:t>
            </a:r>
            <a:endParaRPr lang="en-US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615</Words>
  <Application>Microsoft Macintosh PowerPoint</Application>
  <PresentationFormat>On-screen Show (16:9)</PresentationFormat>
  <Paragraphs>129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 Carlo Portfolio Simulation</dc:title>
  <dc:subject>PptxGenJS Presentation</dc:subject>
  <dc:creator>PptxGenJS</dc:creator>
  <cp:lastModifiedBy>Jatin Khanna</cp:lastModifiedBy>
  <cp:revision>2</cp:revision>
  <dcterms:created xsi:type="dcterms:W3CDTF">2026-03-08T08:12:43Z</dcterms:created>
  <dcterms:modified xsi:type="dcterms:W3CDTF">2026-03-08T08:22:38Z</dcterms:modified>
</cp:coreProperties>
</file>